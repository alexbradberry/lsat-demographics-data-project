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0"/>
  </p:notesMasterIdLst>
  <p:sldIdLst>
    <p:sldId id="298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19" autoAdjust="0"/>
  </p:normalViewPr>
  <p:slideViewPr>
    <p:cSldViewPr snapToGrid="0">
      <p:cViewPr varScale="1">
        <p:scale>
          <a:sx n="106" d="100"/>
          <a:sy n="106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entu\Documents\Resume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entu\Documents\Resume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entu\Documents\Resume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entu\Documents\Resume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2024vs2025</a:t>
            </a:r>
            <a:r>
              <a:rPr lang="en-US" baseline="0" dirty="0"/>
              <a:t> Class totals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First Year total in 2024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Campbell University</c:v>
                </c:pt>
                <c:pt idx="1">
                  <c:v>Charleston School of Law</c:v>
                </c:pt>
                <c:pt idx="2">
                  <c:v>Duke University</c:v>
                </c:pt>
                <c:pt idx="3">
                  <c:v>Elon University</c:v>
                </c:pt>
                <c:pt idx="4">
                  <c:v>NC Central University</c:v>
                </c:pt>
                <c:pt idx="5">
                  <c:v>UNC-Chapel Hill</c:v>
                </c:pt>
                <c:pt idx="6">
                  <c:v>U of SC</c:v>
                </c:pt>
                <c:pt idx="7">
                  <c:v>Wake Forest University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191</c:v>
                </c:pt>
                <c:pt idx="1">
                  <c:v>272</c:v>
                </c:pt>
                <c:pt idx="2">
                  <c:v>250</c:v>
                </c:pt>
                <c:pt idx="3">
                  <c:v>206</c:v>
                </c:pt>
                <c:pt idx="4">
                  <c:v>133</c:v>
                </c:pt>
                <c:pt idx="5">
                  <c:v>181</c:v>
                </c:pt>
                <c:pt idx="6">
                  <c:v>226</c:v>
                </c:pt>
                <c:pt idx="7">
                  <c:v>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8D-463E-81BD-4498BE8CDE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First Year Total in 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Campbell University</c:v>
                </c:pt>
                <c:pt idx="1">
                  <c:v>Charleston School of Law</c:v>
                </c:pt>
                <c:pt idx="2">
                  <c:v>Duke University</c:v>
                </c:pt>
                <c:pt idx="3">
                  <c:v>Elon University</c:v>
                </c:pt>
                <c:pt idx="4">
                  <c:v>NC Central University</c:v>
                </c:pt>
                <c:pt idx="5">
                  <c:v>UNC-Chapel Hill</c:v>
                </c:pt>
                <c:pt idx="6">
                  <c:v>U of SC</c:v>
                </c:pt>
                <c:pt idx="7">
                  <c:v>Wake Forest University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202</c:v>
                </c:pt>
                <c:pt idx="1">
                  <c:v>241</c:v>
                </c:pt>
                <c:pt idx="2">
                  <c:v>227</c:v>
                </c:pt>
                <c:pt idx="3">
                  <c:v>228</c:v>
                </c:pt>
                <c:pt idx="4">
                  <c:v>133</c:v>
                </c:pt>
                <c:pt idx="5">
                  <c:v>181</c:v>
                </c:pt>
                <c:pt idx="6">
                  <c:v>221</c:v>
                </c:pt>
                <c:pt idx="7">
                  <c:v>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8D-463E-81BD-4498BE8CDEA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488487423"/>
        <c:axId val="1448823263"/>
      </c:barChart>
      <c:catAx>
        <c:axId val="14884874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8823263"/>
        <c:crosses val="autoZero"/>
        <c:auto val="1"/>
        <c:lblAlgn val="ctr"/>
        <c:lblOffset val="100"/>
        <c:noMultiLvlLbl val="0"/>
      </c:catAx>
      <c:valAx>
        <c:axId val="14488232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884874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General</a:t>
            </a:r>
            <a:r>
              <a:rPr lang="en-US" baseline="0"/>
              <a:t> Demographics 2024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0"/>
      <c:rotY val="0"/>
      <c:depthPercent val="100"/>
      <c:rAngAx val="0"/>
    </c:view3D>
    <c:floor>
      <c:thickness val="0"/>
      <c:spPr>
        <a:solidFill>
          <a:schemeClr val="lt1"/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'2024 Demographics'!$B$1</c:f>
              <c:strCache>
                <c:ptCount val="1"/>
              </c:strCache>
            </c:strRef>
          </c:tx>
          <c:spPr>
            <a:pattFill prst="ltDnDiag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solidFill>
                <a:schemeClr val="accent1"/>
              </a:solidFill>
            </a:ln>
            <a:effectLst/>
            <a:sp3d>
              <a:contourClr>
                <a:schemeClr val="accent1"/>
              </a:contourClr>
            </a:sp3d>
          </c:spPr>
          <c:invertIfNegative val="0"/>
          <c:cat>
            <c:strRef>
              <c:f>'2024 Demographics'!$A$2:$A$10</c:f>
              <c:strCache>
                <c:ptCount val="9"/>
                <c:pt idx="1">
                  <c:v>Campbell University</c:v>
                </c:pt>
                <c:pt idx="2">
                  <c:v>Charleston School of Law</c:v>
                </c:pt>
                <c:pt idx="3">
                  <c:v>Duke University</c:v>
                </c:pt>
                <c:pt idx="4">
                  <c:v>Elon University</c:v>
                </c:pt>
                <c:pt idx="5">
                  <c:v>North Carolina Central University</c:v>
                </c:pt>
                <c:pt idx="6">
                  <c:v>University of North Carolina-Chapel Hill</c:v>
                </c:pt>
                <c:pt idx="7">
                  <c:v>University of South Carolina</c:v>
                </c:pt>
                <c:pt idx="8">
                  <c:v>Wake Forest University</c:v>
                </c:pt>
              </c:strCache>
            </c:strRef>
          </c:cat>
          <c:val>
            <c:numRef>
              <c:f>'2024 Demographics'!$B$2:$B$10</c:f>
              <c:numCache>
                <c:formatCode>General</c:formatCode>
                <c:ptCount val="9"/>
              </c:numCache>
            </c:numRef>
          </c:val>
          <c:extLst>
            <c:ext xmlns:c16="http://schemas.microsoft.com/office/drawing/2014/chart" uri="{C3380CC4-5D6E-409C-BE32-E72D297353CC}">
              <c16:uniqueId val="{00000000-1D56-438D-B924-D34A8CCEC24D}"/>
            </c:ext>
          </c:extLst>
        </c:ser>
        <c:ser>
          <c:idx val="1"/>
          <c:order val="1"/>
          <c:tx>
            <c:strRef>
              <c:f>'2024 Demographics'!$C$1</c:f>
              <c:strCache>
                <c:ptCount val="1"/>
                <c:pt idx="0">
                  <c:v>First Year Class Total</c:v>
                </c:pt>
              </c:strCache>
            </c:strRef>
          </c:tx>
          <c:spPr>
            <a:pattFill prst="ltDnDiag">
              <a:fgClr>
                <a:schemeClr val="accent2"/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solidFill>
                <a:schemeClr val="accent2"/>
              </a:solidFill>
            </a:ln>
            <a:effectLst/>
            <a:sp3d>
              <a:contourClr>
                <a:schemeClr val="accent2"/>
              </a:contourClr>
            </a:sp3d>
          </c:spPr>
          <c:invertIfNegative val="0"/>
          <c:cat>
            <c:strRef>
              <c:f>'2024 Demographics'!$A$2:$A$10</c:f>
              <c:strCache>
                <c:ptCount val="9"/>
                <c:pt idx="1">
                  <c:v>Campbell University</c:v>
                </c:pt>
                <c:pt idx="2">
                  <c:v>Charleston School of Law</c:v>
                </c:pt>
                <c:pt idx="3">
                  <c:v>Duke University</c:v>
                </c:pt>
                <c:pt idx="4">
                  <c:v>Elon University</c:v>
                </c:pt>
                <c:pt idx="5">
                  <c:v>North Carolina Central University</c:v>
                </c:pt>
                <c:pt idx="6">
                  <c:v>University of North Carolina-Chapel Hill</c:v>
                </c:pt>
                <c:pt idx="7">
                  <c:v>University of South Carolina</c:v>
                </c:pt>
                <c:pt idx="8">
                  <c:v>Wake Forest University</c:v>
                </c:pt>
              </c:strCache>
            </c:strRef>
          </c:cat>
          <c:val>
            <c:numRef>
              <c:f>'2024 Demographics'!$C$2:$C$10</c:f>
              <c:numCache>
                <c:formatCode>General</c:formatCode>
                <c:ptCount val="9"/>
                <c:pt idx="1">
                  <c:v>191</c:v>
                </c:pt>
                <c:pt idx="2">
                  <c:v>272</c:v>
                </c:pt>
                <c:pt idx="3">
                  <c:v>250</c:v>
                </c:pt>
                <c:pt idx="4">
                  <c:v>206</c:v>
                </c:pt>
                <c:pt idx="5">
                  <c:v>133</c:v>
                </c:pt>
                <c:pt idx="6">
                  <c:v>181</c:v>
                </c:pt>
                <c:pt idx="7">
                  <c:v>226</c:v>
                </c:pt>
                <c:pt idx="8">
                  <c:v>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56-438D-B924-D34A8CCEC24D}"/>
            </c:ext>
          </c:extLst>
        </c:ser>
        <c:ser>
          <c:idx val="2"/>
          <c:order val="2"/>
          <c:tx>
            <c:strRef>
              <c:f>'2024 Demographics'!$D$1</c:f>
              <c:strCache>
                <c:ptCount val="1"/>
                <c:pt idx="0">
                  <c:v>Total Men</c:v>
                </c:pt>
              </c:strCache>
            </c:strRef>
          </c:tx>
          <c:spPr>
            <a:pattFill prst="ltDnDiag">
              <a:fgClr>
                <a:schemeClr val="accent3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>
              <a:solidFill>
                <a:schemeClr val="accent3"/>
              </a:solidFill>
            </a:ln>
            <a:effectLst/>
            <a:sp3d>
              <a:contourClr>
                <a:schemeClr val="accent3"/>
              </a:contourClr>
            </a:sp3d>
          </c:spPr>
          <c:invertIfNegative val="0"/>
          <c:cat>
            <c:strRef>
              <c:f>'2024 Demographics'!$A$2:$A$10</c:f>
              <c:strCache>
                <c:ptCount val="9"/>
                <c:pt idx="1">
                  <c:v>Campbell University</c:v>
                </c:pt>
                <c:pt idx="2">
                  <c:v>Charleston School of Law</c:v>
                </c:pt>
                <c:pt idx="3">
                  <c:v>Duke University</c:v>
                </c:pt>
                <c:pt idx="4">
                  <c:v>Elon University</c:v>
                </c:pt>
                <c:pt idx="5">
                  <c:v>North Carolina Central University</c:v>
                </c:pt>
                <c:pt idx="6">
                  <c:v>University of North Carolina-Chapel Hill</c:v>
                </c:pt>
                <c:pt idx="7">
                  <c:v>University of South Carolina</c:v>
                </c:pt>
                <c:pt idx="8">
                  <c:v>Wake Forest University</c:v>
                </c:pt>
              </c:strCache>
            </c:strRef>
          </c:cat>
          <c:val>
            <c:numRef>
              <c:f>'2024 Demographics'!$D$2:$D$10</c:f>
              <c:numCache>
                <c:formatCode>General</c:formatCode>
                <c:ptCount val="9"/>
                <c:pt idx="1">
                  <c:v>71</c:v>
                </c:pt>
                <c:pt idx="2">
                  <c:v>79</c:v>
                </c:pt>
                <c:pt idx="3">
                  <c:v>114</c:v>
                </c:pt>
                <c:pt idx="4">
                  <c:v>78</c:v>
                </c:pt>
                <c:pt idx="5">
                  <c:v>45</c:v>
                </c:pt>
                <c:pt idx="6">
                  <c:v>84</c:v>
                </c:pt>
                <c:pt idx="7">
                  <c:v>117</c:v>
                </c:pt>
                <c:pt idx="8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56-438D-B924-D34A8CCEC24D}"/>
            </c:ext>
          </c:extLst>
        </c:ser>
        <c:ser>
          <c:idx val="3"/>
          <c:order val="3"/>
          <c:tx>
            <c:strRef>
              <c:f>'2024 Demographics'!$E$1</c:f>
              <c:strCache>
                <c:ptCount val="1"/>
                <c:pt idx="0">
                  <c:v>Total Women</c:v>
                </c:pt>
              </c:strCache>
            </c:strRef>
          </c:tx>
          <c:spPr>
            <a:pattFill prst="ltDnDiag">
              <a:fgClr>
                <a:schemeClr val="accent4"/>
              </a:fgClr>
              <a:bgClr>
                <a:schemeClr val="accent4">
                  <a:lumMod val="20000"/>
                  <a:lumOff val="80000"/>
                </a:schemeClr>
              </a:bgClr>
            </a:pattFill>
            <a:ln>
              <a:solidFill>
                <a:schemeClr val="accent4"/>
              </a:solidFill>
            </a:ln>
            <a:effectLst/>
            <a:sp3d>
              <a:contourClr>
                <a:schemeClr val="accent4"/>
              </a:contourClr>
            </a:sp3d>
          </c:spPr>
          <c:invertIfNegative val="0"/>
          <c:cat>
            <c:strRef>
              <c:f>'2024 Demographics'!$A$2:$A$10</c:f>
              <c:strCache>
                <c:ptCount val="9"/>
                <c:pt idx="1">
                  <c:v>Campbell University</c:v>
                </c:pt>
                <c:pt idx="2">
                  <c:v>Charleston School of Law</c:v>
                </c:pt>
                <c:pt idx="3">
                  <c:v>Duke University</c:v>
                </c:pt>
                <c:pt idx="4">
                  <c:v>Elon University</c:v>
                </c:pt>
                <c:pt idx="5">
                  <c:v>North Carolina Central University</c:v>
                </c:pt>
                <c:pt idx="6">
                  <c:v>University of North Carolina-Chapel Hill</c:v>
                </c:pt>
                <c:pt idx="7">
                  <c:v>University of South Carolina</c:v>
                </c:pt>
                <c:pt idx="8">
                  <c:v>Wake Forest University</c:v>
                </c:pt>
              </c:strCache>
            </c:strRef>
          </c:cat>
          <c:val>
            <c:numRef>
              <c:f>'2024 Demographics'!$E$2:$E$10</c:f>
              <c:numCache>
                <c:formatCode>General</c:formatCode>
                <c:ptCount val="9"/>
                <c:pt idx="1">
                  <c:v>116</c:v>
                </c:pt>
                <c:pt idx="2">
                  <c:v>189</c:v>
                </c:pt>
                <c:pt idx="3">
                  <c:v>136</c:v>
                </c:pt>
                <c:pt idx="4">
                  <c:v>124</c:v>
                </c:pt>
                <c:pt idx="5">
                  <c:v>84</c:v>
                </c:pt>
                <c:pt idx="6">
                  <c:v>92</c:v>
                </c:pt>
                <c:pt idx="7">
                  <c:v>109</c:v>
                </c:pt>
                <c:pt idx="8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D56-438D-B924-D34A8CCEC24D}"/>
            </c:ext>
          </c:extLst>
        </c:ser>
        <c:ser>
          <c:idx val="4"/>
          <c:order val="4"/>
          <c:tx>
            <c:strRef>
              <c:f>'2024 Demographics'!$F$1</c:f>
              <c:strCache>
                <c:ptCount val="1"/>
                <c:pt idx="0">
                  <c:v>Total Another Gender ID</c:v>
                </c:pt>
              </c:strCache>
            </c:strRef>
          </c:tx>
          <c:spPr>
            <a:pattFill prst="ltDnDiag">
              <a:fgClr>
                <a:schemeClr val="accent5"/>
              </a:fgClr>
              <a:bgClr>
                <a:schemeClr val="accent5">
                  <a:lumMod val="20000"/>
                  <a:lumOff val="80000"/>
                </a:schemeClr>
              </a:bgClr>
            </a:pattFill>
            <a:ln>
              <a:solidFill>
                <a:schemeClr val="accent5"/>
              </a:solidFill>
            </a:ln>
            <a:effectLst/>
            <a:sp3d>
              <a:contourClr>
                <a:schemeClr val="accent5"/>
              </a:contourClr>
            </a:sp3d>
          </c:spPr>
          <c:invertIfNegative val="0"/>
          <c:cat>
            <c:strRef>
              <c:f>'2024 Demographics'!$A$2:$A$10</c:f>
              <c:strCache>
                <c:ptCount val="9"/>
                <c:pt idx="1">
                  <c:v>Campbell University</c:v>
                </c:pt>
                <c:pt idx="2">
                  <c:v>Charleston School of Law</c:v>
                </c:pt>
                <c:pt idx="3">
                  <c:v>Duke University</c:v>
                </c:pt>
                <c:pt idx="4">
                  <c:v>Elon University</c:v>
                </c:pt>
                <c:pt idx="5">
                  <c:v>North Carolina Central University</c:v>
                </c:pt>
                <c:pt idx="6">
                  <c:v>University of North Carolina-Chapel Hill</c:v>
                </c:pt>
                <c:pt idx="7">
                  <c:v>University of South Carolina</c:v>
                </c:pt>
                <c:pt idx="8">
                  <c:v>Wake Forest University</c:v>
                </c:pt>
              </c:strCache>
            </c:strRef>
          </c:cat>
          <c:val>
            <c:numRef>
              <c:f>'2024 Demographics'!$F$2:$F$10</c:f>
              <c:numCache>
                <c:formatCode>General</c:formatCode>
                <c:ptCount val="9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</c:v>
                </c:pt>
                <c:pt idx="5">
                  <c:v>4</c:v>
                </c:pt>
                <c:pt idx="6">
                  <c:v>3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56-438D-B924-D34A8CCEC24D}"/>
            </c:ext>
          </c:extLst>
        </c:ser>
        <c:ser>
          <c:idx val="5"/>
          <c:order val="5"/>
          <c:tx>
            <c:strRef>
              <c:f>'2024 Demographics'!$G$1</c:f>
              <c:strCache>
                <c:ptCount val="1"/>
                <c:pt idx="0">
                  <c:v>Total Prefer Not To Report</c:v>
                </c:pt>
              </c:strCache>
            </c:strRef>
          </c:tx>
          <c:spPr>
            <a:pattFill prst="ltDnDiag">
              <a:fgClr>
                <a:schemeClr val="accent6"/>
              </a:fgClr>
              <a:bgClr>
                <a:schemeClr val="accent6">
                  <a:lumMod val="20000"/>
                  <a:lumOff val="80000"/>
                </a:schemeClr>
              </a:bgClr>
            </a:pattFill>
            <a:ln>
              <a:solidFill>
                <a:schemeClr val="accent6"/>
              </a:solidFill>
            </a:ln>
            <a:effectLst/>
            <a:sp3d>
              <a:contourClr>
                <a:schemeClr val="accent6"/>
              </a:contourClr>
            </a:sp3d>
          </c:spPr>
          <c:invertIfNegative val="0"/>
          <c:cat>
            <c:strRef>
              <c:f>'2024 Demographics'!$A$2:$A$10</c:f>
              <c:strCache>
                <c:ptCount val="9"/>
                <c:pt idx="1">
                  <c:v>Campbell University</c:v>
                </c:pt>
                <c:pt idx="2">
                  <c:v>Charleston School of Law</c:v>
                </c:pt>
                <c:pt idx="3">
                  <c:v>Duke University</c:v>
                </c:pt>
                <c:pt idx="4">
                  <c:v>Elon University</c:v>
                </c:pt>
                <c:pt idx="5">
                  <c:v>North Carolina Central University</c:v>
                </c:pt>
                <c:pt idx="6">
                  <c:v>University of North Carolina-Chapel Hill</c:v>
                </c:pt>
                <c:pt idx="7">
                  <c:v>University of South Carolina</c:v>
                </c:pt>
                <c:pt idx="8">
                  <c:v>Wake Forest University</c:v>
                </c:pt>
              </c:strCache>
            </c:strRef>
          </c:cat>
          <c:val>
            <c:numRef>
              <c:f>'2024 Demographics'!$G$2:$G$10</c:f>
              <c:numCache>
                <c:formatCode>General</c:formatCode>
                <c:ptCount val="9"/>
                <c:pt idx="1">
                  <c:v>4</c:v>
                </c:pt>
                <c:pt idx="2">
                  <c:v>4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D56-438D-B924-D34A8CCEC2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0"/>
        <c:gapDepth val="0"/>
        <c:shape val="box"/>
        <c:axId val="456944879"/>
        <c:axId val="275683776"/>
        <c:axId val="0"/>
      </c:bar3DChart>
      <c:catAx>
        <c:axId val="456944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5683776"/>
        <c:crosses val="autoZero"/>
        <c:auto val="1"/>
        <c:lblAlgn val="ctr"/>
        <c:lblOffset val="100"/>
        <c:noMultiLvlLbl val="0"/>
      </c:catAx>
      <c:valAx>
        <c:axId val="2756837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6944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of POC</a:t>
            </a:r>
            <a:r>
              <a:rPr lang="en-US" baseline="0"/>
              <a:t> students contained in the First Year Total</a:t>
            </a:r>
          </a:p>
        </c:rich>
      </c:tx>
      <c:layout>
        <c:manualLayout>
          <c:xMode val="edge"/>
          <c:yMode val="edge"/>
          <c:x val="0.20089991013566744"/>
          <c:y val="4.42233201058016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'2024 Demographics'!$C$1</c:f>
              <c:strCache>
                <c:ptCount val="1"/>
                <c:pt idx="0">
                  <c:v>First Year Class 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'2024 Demographics'!$A$2:$A$10</c:f>
              <c:strCache>
                <c:ptCount val="9"/>
                <c:pt idx="1">
                  <c:v>Campbell University</c:v>
                </c:pt>
                <c:pt idx="2">
                  <c:v>Charleston School of Law</c:v>
                </c:pt>
                <c:pt idx="3">
                  <c:v>Duke University</c:v>
                </c:pt>
                <c:pt idx="4">
                  <c:v>Elon University</c:v>
                </c:pt>
                <c:pt idx="5">
                  <c:v>North Carolina Central University</c:v>
                </c:pt>
                <c:pt idx="6">
                  <c:v>University of North Carolina-Chapel Hill</c:v>
                </c:pt>
                <c:pt idx="7">
                  <c:v>University of South Carolina</c:v>
                </c:pt>
                <c:pt idx="8">
                  <c:v>Wake Forest University</c:v>
                </c:pt>
              </c:strCache>
            </c:strRef>
          </c:cat>
          <c:val>
            <c:numRef>
              <c:f>'2024 Demographics'!$C$2:$C$10</c:f>
              <c:numCache>
                <c:formatCode>General</c:formatCode>
                <c:ptCount val="9"/>
                <c:pt idx="1">
                  <c:v>191</c:v>
                </c:pt>
                <c:pt idx="2">
                  <c:v>272</c:v>
                </c:pt>
                <c:pt idx="3">
                  <c:v>250</c:v>
                </c:pt>
                <c:pt idx="4">
                  <c:v>206</c:v>
                </c:pt>
                <c:pt idx="5">
                  <c:v>133</c:v>
                </c:pt>
                <c:pt idx="6">
                  <c:v>181</c:v>
                </c:pt>
                <c:pt idx="7">
                  <c:v>226</c:v>
                </c:pt>
                <c:pt idx="8">
                  <c:v>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4C-4465-A4AE-5509609180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7075136"/>
        <c:axId val="355978112"/>
      </c:barChart>
      <c:lineChart>
        <c:grouping val="standard"/>
        <c:varyColors val="0"/>
        <c:ser>
          <c:idx val="1"/>
          <c:order val="1"/>
          <c:tx>
            <c:strRef>
              <c:f>'2024 Demographics'!$H$1</c:f>
              <c:strCache>
                <c:ptCount val="1"/>
                <c:pt idx="0">
                  <c:v>POC Class 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'2024 Demographics'!$A$2:$A$10</c:f>
              <c:strCache>
                <c:ptCount val="9"/>
                <c:pt idx="1">
                  <c:v>Campbell University</c:v>
                </c:pt>
                <c:pt idx="2">
                  <c:v>Charleston School of Law</c:v>
                </c:pt>
                <c:pt idx="3">
                  <c:v>Duke University</c:v>
                </c:pt>
                <c:pt idx="4">
                  <c:v>Elon University</c:v>
                </c:pt>
                <c:pt idx="5">
                  <c:v>North Carolina Central University</c:v>
                </c:pt>
                <c:pt idx="6">
                  <c:v>University of North Carolina-Chapel Hill</c:v>
                </c:pt>
                <c:pt idx="7">
                  <c:v>University of South Carolina</c:v>
                </c:pt>
                <c:pt idx="8">
                  <c:v>Wake Forest University</c:v>
                </c:pt>
              </c:strCache>
            </c:strRef>
          </c:cat>
          <c:val>
            <c:numRef>
              <c:f>'2024 Demographics'!$H$2:$H$10</c:f>
              <c:numCache>
                <c:formatCode>General</c:formatCode>
                <c:ptCount val="9"/>
                <c:pt idx="1">
                  <c:v>46</c:v>
                </c:pt>
                <c:pt idx="2">
                  <c:v>39</c:v>
                </c:pt>
                <c:pt idx="3">
                  <c:v>99</c:v>
                </c:pt>
                <c:pt idx="4">
                  <c:v>55</c:v>
                </c:pt>
                <c:pt idx="5">
                  <c:v>96</c:v>
                </c:pt>
                <c:pt idx="6">
                  <c:v>43</c:v>
                </c:pt>
                <c:pt idx="7">
                  <c:v>38</c:v>
                </c:pt>
                <c:pt idx="8">
                  <c:v>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A4C-4465-A4AE-5509609180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75136"/>
        <c:axId val="355978112"/>
      </c:lineChart>
      <c:catAx>
        <c:axId val="147075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5978112"/>
        <c:crosses val="autoZero"/>
        <c:auto val="1"/>
        <c:lblAlgn val="ctr"/>
        <c:lblOffset val="100"/>
        <c:noMultiLvlLbl val="0"/>
      </c:catAx>
      <c:valAx>
        <c:axId val="355978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075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General</a:t>
            </a:r>
            <a:r>
              <a:rPr lang="en-US" baseline="0"/>
              <a:t> Demographics 2025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'2025 Demographics'!$C$1</c:f>
              <c:strCache>
                <c:ptCount val="1"/>
                <c:pt idx="0">
                  <c:v>First Year Class 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Demographics'!$A$2:$A$10</c:f>
              <c:strCache>
                <c:ptCount val="9"/>
                <c:pt idx="1">
                  <c:v>Campbell University</c:v>
                </c:pt>
                <c:pt idx="2">
                  <c:v>Charleston School of Law</c:v>
                </c:pt>
                <c:pt idx="3">
                  <c:v>Duke University</c:v>
                </c:pt>
                <c:pt idx="4">
                  <c:v>Elon University</c:v>
                </c:pt>
                <c:pt idx="5">
                  <c:v>North Carolina Central University</c:v>
                </c:pt>
                <c:pt idx="6">
                  <c:v>University of North Carolina-Chapel Hill</c:v>
                </c:pt>
                <c:pt idx="7">
                  <c:v>University of South Carolina</c:v>
                </c:pt>
                <c:pt idx="8">
                  <c:v>Wake Forest University</c:v>
                </c:pt>
              </c:strCache>
            </c:strRef>
          </c:cat>
          <c:val>
            <c:numRef>
              <c:f>'2025 Demographics'!$C$2:$C$10</c:f>
              <c:numCache>
                <c:formatCode>General</c:formatCode>
                <c:ptCount val="9"/>
                <c:pt idx="1">
                  <c:v>202</c:v>
                </c:pt>
                <c:pt idx="2">
                  <c:v>241</c:v>
                </c:pt>
                <c:pt idx="3">
                  <c:v>227</c:v>
                </c:pt>
                <c:pt idx="4">
                  <c:v>228</c:v>
                </c:pt>
                <c:pt idx="5">
                  <c:v>133</c:v>
                </c:pt>
                <c:pt idx="6">
                  <c:v>181</c:v>
                </c:pt>
                <c:pt idx="7">
                  <c:v>221</c:v>
                </c:pt>
                <c:pt idx="8">
                  <c:v>203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16-40E7-951B-6DDC87B1EB56}"/>
            </c:ext>
          </c:extLst>
        </c:ser>
        <c:ser>
          <c:idx val="1"/>
          <c:order val="1"/>
          <c:tx>
            <c:strRef>
              <c:f>'2025 Demographics'!$D$1</c:f>
              <c:strCache>
                <c:ptCount val="1"/>
                <c:pt idx="0">
                  <c:v>Total Men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Demographics'!$A$2:$A$10</c:f>
              <c:strCache>
                <c:ptCount val="9"/>
                <c:pt idx="1">
                  <c:v>Campbell University</c:v>
                </c:pt>
                <c:pt idx="2">
                  <c:v>Charleston School of Law</c:v>
                </c:pt>
                <c:pt idx="3">
                  <c:v>Duke University</c:v>
                </c:pt>
                <c:pt idx="4">
                  <c:v>Elon University</c:v>
                </c:pt>
                <c:pt idx="5">
                  <c:v>North Carolina Central University</c:v>
                </c:pt>
                <c:pt idx="6">
                  <c:v>University of North Carolina-Chapel Hill</c:v>
                </c:pt>
                <c:pt idx="7">
                  <c:v>University of South Carolina</c:v>
                </c:pt>
                <c:pt idx="8">
                  <c:v>Wake Forest University</c:v>
                </c:pt>
              </c:strCache>
            </c:strRef>
          </c:cat>
          <c:val>
            <c:numRef>
              <c:f>'2025 Demographics'!$D$2:$D$10</c:f>
              <c:numCache>
                <c:formatCode>General</c:formatCode>
                <c:ptCount val="9"/>
                <c:pt idx="1">
                  <c:v>84</c:v>
                </c:pt>
                <c:pt idx="2">
                  <c:v>90</c:v>
                </c:pt>
                <c:pt idx="3">
                  <c:v>107</c:v>
                </c:pt>
                <c:pt idx="4">
                  <c:v>78</c:v>
                </c:pt>
                <c:pt idx="5">
                  <c:v>38</c:v>
                </c:pt>
                <c:pt idx="6">
                  <c:v>85</c:v>
                </c:pt>
                <c:pt idx="7">
                  <c:v>121</c:v>
                </c:pt>
                <c:pt idx="8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16-40E7-951B-6DDC87B1EB56}"/>
            </c:ext>
          </c:extLst>
        </c:ser>
        <c:ser>
          <c:idx val="2"/>
          <c:order val="2"/>
          <c:tx>
            <c:strRef>
              <c:f>'2025 Demographics'!$E$1</c:f>
              <c:strCache>
                <c:ptCount val="1"/>
                <c:pt idx="0">
                  <c:v>Total Women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8"/>
              <c:layout>
                <c:manualLayout>
                  <c:x val="2.6092626151940647E-3"/>
                  <c:y val="-1.0924761323452118E-1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A16-40E7-951B-6DDC87B1EB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Demographics'!$A$2:$A$10</c:f>
              <c:strCache>
                <c:ptCount val="9"/>
                <c:pt idx="1">
                  <c:v>Campbell University</c:v>
                </c:pt>
                <c:pt idx="2">
                  <c:v>Charleston School of Law</c:v>
                </c:pt>
                <c:pt idx="3">
                  <c:v>Duke University</c:v>
                </c:pt>
                <c:pt idx="4">
                  <c:v>Elon University</c:v>
                </c:pt>
                <c:pt idx="5">
                  <c:v>North Carolina Central University</c:v>
                </c:pt>
                <c:pt idx="6">
                  <c:v>University of North Carolina-Chapel Hill</c:v>
                </c:pt>
                <c:pt idx="7">
                  <c:v>University of South Carolina</c:v>
                </c:pt>
                <c:pt idx="8">
                  <c:v>Wake Forest University</c:v>
                </c:pt>
              </c:strCache>
            </c:strRef>
          </c:cat>
          <c:val>
            <c:numRef>
              <c:f>'2025 Demographics'!$E$2:$E$10</c:f>
              <c:numCache>
                <c:formatCode>General</c:formatCode>
                <c:ptCount val="9"/>
                <c:pt idx="1">
                  <c:v>117</c:v>
                </c:pt>
                <c:pt idx="2">
                  <c:v>151</c:v>
                </c:pt>
                <c:pt idx="3">
                  <c:v>115</c:v>
                </c:pt>
                <c:pt idx="4">
                  <c:v>149</c:v>
                </c:pt>
                <c:pt idx="5">
                  <c:v>94</c:v>
                </c:pt>
                <c:pt idx="6">
                  <c:v>92</c:v>
                </c:pt>
                <c:pt idx="7">
                  <c:v>100</c:v>
                </c:pt>
                <c:pt idx="8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16-40E7-951B-6DDC87B1EB56}"/>
            </c:ext>
          </c:extLst>
        </c:ser>
        <c:ser>
          <c:idx val="3"/>
          <c:order val="3"/>
          <c:tx>
            <c:strRef>
              <c:f>'2025 Demographics'!$F$1</c:f>
              <c:strCache>
                <c:ptCount val="1"/>
                <c:pt idx="0">
                  <c:v>Total Another Gender ID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Demographics'!$A$2:$A$10</c:f>
              <c:strCache>
                <c:ptCount val="9"/>
                <c:pt idx="1">
                  <c:v>Campbell University</c:v>
                </c:pt>
                <c:pt idx="2">
                  <c:v>Charleston School of Law</c:v>
                </c:pt>
                <c:pt idx="3">
                  <c:v>Duke University</c:v>
                </c:pt>
                <c:pt idx="4">
                  <c:v>Elon University</c:v>
                </c:pt>
                <c:pt idx="5">
                  <c:v>North Carolina Central University</c:v>
                </c:pt>
                <c:pt idx="6">
                  <c:v>University of North Carolina-Chapel Hill</c:v>
                </c:pt>
                <c:pt idx="7">
                  <c:v>University of South Carolina</c:v>
                </c:pt>
                <c:pt idx="8">
                  <c:v>Wake Forest University</c:v>
                </c:pt>
              </c:strCache>
            </c:strRef>
          </c:cat>
          <c:val>
            <c:numRef>
              <c:f>'2025 Demographics'!$F$2:$F$10</c:f>
              <c:numCache>
                <c:formatCode>General</c:formatCode>
                <c:ptCount val="9"/>
                <c:pt idx="1">
                  <c:v>0</c:v>
                </c:pt>
                <c:pt idx="2">
                  <c:v>0</c:v>
                </c:pt>
                <c:pt idx="3">
                  <c:v>5</c:v>
                </c:pt>
                <c:pt idx="4">
                  <c:v>1</c:v>
                </c:pt>
                <c:pt idx="5">
                  <c:v>1</c:v>
                </c:pt>
                <c:pt idx="6">
                  <c:v>4</c:v>
                </c:pt>
                <c:pt idx="7">
                  <c:v>0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A16-40E7-951B-6DDC87B1EB56}"/>
            </c:ext>
          </c:extLst>
        </c:ser>
        <c:ser>
          <c:idx val="4"/>
          <c:order val="4"/>
          <c:tx>
            <c:strRef>
              <c:f>'2025 Demographics'!$G$1</c:f>
              <c:strCache>
                <c:ptCount val="1"/>
                <c:pt idx="0">
                  <c:v>Total Prefer Not To Report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Demographics'!$A$2:$A$10</c:f>
              <c:strCache>
                <c:ptCount val="9"/>
                <c:pt idx="1">
                  <c:v>Campbell University</c:v>
                </c:pt>
                <c:pt idx="2">
                  <c:v>Charleston School of Law</c:v>
                </c:pt>
                <c:pt idx="3">
                  <c:v>Duke University</c:v>
                </c:pt>
                <c:pt idx="4">
                  <c:v>Elon University</c:v>
                </c:pt>
                <c:pt idx="5">
                  <c:v>North Carolina Central University</c:v>
                </c:pt>
                <c:pt idx="6">
                  <c:v>University of North Carolina-Chapel Hill</c:v>
                </c:pt>
                <c:pt idx="7">
                  <c:v>University of South Carolina</c:v>
                </c:pt>
                <c:pt idx="8">
                  <c:v>Wake Forest University</c:v>
                </c:pt>
              </c:strCache>
            </c:strRef>
          </c:cat>
          <c:val>
            <c:numRef>
              <c:f>'2025 Demographics'!$G$2:$G$10</c:f>
              <c:numCache>
                <c:formatCode>General</c:formatCode>
                <c:ptCount val="9"/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16-40E7-951B-6DDC87B1EB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8556096"/>
        <c:axId val="355984352"/>
      </c:barChart>
      <c:catAx>
        <c:axId val="898556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5984352"/>
        <c:crosses val="autoZero"/>
        <c:auto val="1"/>
        <c:lblAlgn val="ctr"/>
        <c:lblOffset val="100"/>
        <c:noMultiLvlLbl val="0"/>
      </c:catAx>
      <c:valAx>
        <c:axId val="355984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8556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</a:t>
            </a:r>
            <a:r>
              <a:rPr lang="en-US" baseline="0"/>
              <a:t> of POC students contained in the First Year Total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'2025 Demographics'!$C$1</c:f>
              <c:strCache>
                <c:ptCount val="1"/>
                <c:pt idx="0">
                  <c:v>First Year Class 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'2025 Demographics'!$A$2:$A$10</c:f>
              <c:strCache>
                <c:ptCount val="9"/>
                <c:pt idx="1">
                  <c:v>Campbell University</c:v>
                </c:pt>
                <c:pt idx="2">
                  <c:v>Charleston School of Law</c:v>
                </c:pt>
                <c:pt idx="3">
                  <c:v>Duke University</c:v>
                </c:pt>
                <c:pt idx="4">
                  <c:v>Elon University</c:v>
                </c:pt>
                <c:pt idx="5">
                  <c:v>North Carolina Central University</c:v>
                </c:pt>
                <c:pt idx="6">
                  <c:v>University of North Carolina-Chapel Hill</c:v>
                </c:pt>
                <c:pt idx="7">
                  <c:v>University of South Carolina</c:v>
                </c:pt>
                <c:pt idx="8">
                  <c:v>Wake Forest University</c:v>
                </c:pt>
              </c:strCache>
            </c:strRef>
          </c:cat>
          <c:val>
            <c:numRef>
              <c:f>'2025 Demographics'!$C$2:$C$10</c:f>
              <c:numCache>
                <c:formatCode>General</c:formatCode>
                <c:ptCount val="9"/>
                <c:pt idx="1">
                  <c:v>202</c:v>
                </c:pt>
                <c:pt idx="2">
                  <c:v>241</c:v>
                </c:pt>
                <c:pt idx="3">
                  <c:v>227</c:v>
                </c:pt>
                <c:pt idx="4">
                  <c:v>228</c:v>
                </c:pt>
                <c:pt idx="5">
                  <c:v>133</c:v>
                </c:pt>
                <c:pt idx="6">
                  <c:v>181</c:v>
                </c:pt>
                <c:pt idx="7">
                  <c:v>221</c:v>
                </c:pt>
                <c:pt idx="8">
                  <c:v>203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52-42CF-A8A1-8AEB07228A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55118432"/>
        <c:axId val="919976128"/>
      </c:barChart>
      <c:lineChart>
        <c:grouping val="standard"/>
        <c:varyColors val="0"/>
        <c:ser>
          <c:idx val="1"/>
          <c:order val="1"/>
          <c:tx>
            <c:strRef>
              <c:f>'2025 Demographics'!$H$1</c:f>
              <c:strCache>
                <c:ptCount val="1"/>
                <c:pt idx="0">
                  <c:v>POC Class 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'2025 Demographics'!$A$2:$A$10</c:f>
              <c:strCache>
                <c:ptCount val="9"/>
                <c:pt idx="1">
                  <c:v>Campbell University</c:v>
                </c:pt>
                <c:pt idx="2">
                  <c:v>Charleston School of Law</c:v>
                </c:pt>
                <c:pt idx="3">
                  <c:v>Duke University</c:v>
                </c:pt>
                <c:pt idx="4">
                  <c:v>Elon University</c:v>
                </c:pt>
                <c:pt idx="5">
                  <c:v>North Carolina Central University</c:v>
                </c:pt>
                <c:pt idx="6">
                  <c:v>University of North Carolina-Chapel Hill</c:v>
                </c:pt>
                <c:pt idx="7">
                  <c:v>University of South Carolina</c:v>
                </c:pt>
                <c:pt idx="8">
                  <c:v>Wake Forest University</c:v>
                </c:pt>
              </c:strCache>
            </c:strRef>
          </c:cat>
          <c:val>
            <c:numRef>
              <c:f>'2025 Demographics'!$H$2:$H$10</c:f>
              <c:numCache>
                <c:formatCode>General</c:formatCode>
                <c:ptCount val="9"/>
                <c:pt idx="1">
                  <c:v>49</c:v>
                </c:pt>
                <c:pt idx="2">
                  <c:v>37</c:v>
                </c:pt>
                <c:pt idx="3">
                  <c:v>83</c:v>
                </c:pt>
                <c:pt idx="4">
                  <c:v>79</c:v>
                </c:pt>
                <c:pt idx="5">
                  <c:v>105</c:v>
                </c:pt>
                <c:pt idx="6">
                  <c:v>42</c:v>
                </c:pt>
                <c:pt idx="7">
                  <c:v>32</c:v>
                </c:pt>
                <c:pt idx="8">
                  <c:v>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52-42CF-A8A1-8AEB07228A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55118432"/>
        <c:axId val="919976128"/>
      </c:lineChart>
      <c:catAx>
        <c:axId val="1155118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976128"/>
        <c:crosses val="autoZero"/>
        <c:auto val="1"/>
        <c:lblAlgn val="ctr"/>
        <c:lblOffset val="100"/>
        <c:noMultiLvlLbl val="0"/>
      </c:catAx>
      <c:valAx>
        <c:axId val="919976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5118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8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/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pattFill prst="ltDn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>
        <a:solidFill>
          <a:schemeClr val="phClr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/>
      </a:solidFill>
      <a:sp3d/>
    </cs:spPr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76209-3286-4776-9F61-B6910ADE084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2B545-F076-4779-8E77-4FA92C198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11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Research Triangle Region is a region in North Carolina that is plentiful in research facilities/academics/medicine. These universities are in the corner of said region and are located relatively close to each other (All in the Durham, NC area).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2B545-F076-4779-8E77-4FA92C1986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02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sac.org/data-research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An Analysis of 2024-2025 America Bar Association Student Demographics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Notes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685EB7-E365-10A6-E056-ED7227943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of the data used in this analysis was taken from the LSAC official website under the data and research section of the site. (</a:t>
            </a:r>
            <a:r>
              <a:rPr lang="en-US" dirty="0">
                <a:hlinkClick r:id="rId2"/>
              </a:rPr>
              <a:t>https://www.lsac.org/data-research</a:t>
            </a:r>
            <a:r>
              <a:rPr lang="en-US" dirty="0"/>
              <a:t>)</a:t>
            </a:r>
          </a:p>
          <a:p>
            <a:r>
              <a:rPr lang="en-US" dirty="0"/>
              <a:t>As it is not the end of the LSAT 2026 season, I was only able to get this specific data for 2024-2025.</a:t>
            </a:r>
          </a:p>
          <a:p>
            <a:r>
              <a:rPr lang="en-US" dirty="0"/>
              <a:t>This is an analysis of the Law Schools in North Carolina and South Carolina and demographics surrounding.</a:t>
            </a:r>
          </a:p>
          <a:p>
            <a:r>
              <a:rPr lang="en-US" dirty="0"/>
              <a:t>I used data from censusreporter.org which uses the American Community Survey from the U.S. Census Bureau.</a:t>
            </a:r>
          </a:p>
        </p:txBody>
      </p:sp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1CC36-BA1B-6565-100B-1792631EB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en-US" dirty="0"/>
              <a:t>2024vs2025 Class Totals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FDE80-DA0B-5889-E52B-16D71F0421CA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5465393" y="404024"/>
            <a:ext cx="5928344" cy="2858691"/>
          </a:xfrm>
        </p:spPr>
        <p:txBody>
          <a:bodyPr>
            <a:normAutofit/>
          </a:bodyPr>
          <a:lstStyle/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dirty="0"/>
              <a:t> From the chart, we’re able to gather some insight. 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dirty="0"/>
              <a:t>Many of the schools either accepted more students or remained the same (North Carolina Central and University of North Carolina—Chapel Hill).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dirty="0"/>
              <a:t>3 schools (most notable, Duke University) trended negative in class totals.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dirty="0"/>
              <a:t>Let’s dive into the data for a closer look.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endParaRPr lang="en-US" sz="140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1BB044A-A25F-4D3A-6200-85B60D616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/>
          <a:lstStyle/>
          <a:p>
            <a:r>
              <a:rPr lang="en-US" dirty="0"/>
              <a:t>I selected 8 law schools that are in North and South Carolina and listed the totals for First Year enrollments.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BD203778-B46C-CFCE-63DF-C586E0A568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7373649"/>
              </p:ext>
            </p:extLst>
          </p:nvPr>
        </p:nvGraphicFramePr>
        <p:xfrm>
          <a:off x="5465393" y="3213652"/>
          <a:ext cx="5759198" cy="3562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29517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416F2-9C10-4CAA-99EA-39BD9CF7B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550" y="1978243"/>
            <a:ext cx="10058400" cy="1450757"/>
          </a:xfrm>
        </p:spPr>
        <p:txBody>
          <a:bodyPr/>
          <a:lstStyle/>
          <a:p>
            <a:r>
              <a:rPr lang="en-US" dirty="0"/>
              <a:t>Let’s look at the areas around the universities.</a:t>
            </a:r>
          </a:p>
        </p:txBody>
      </p:sp>
    </p:spTree>
    <p:extLst>
      <p:ext uri="{BB962C8B-B14F-4D97-AF65-F5344CB8AC3E}">
        <p14:creationId xmlns:p14="http://schemas.microsoft.com/office/powerpoint/2010/main" val="651187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C8EB3-1FA4-7AD7-C447-C1AB35460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Research Triangle Region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9EF78-882E-F54C-794D-BEDBCF3E0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Durham, North Carolina area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35C0F-54BB-6812-7A83-341C648772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Durham NC area has a population of 620,522 and is majority white, but reports 22% African-American, 6% Asian and 14% Hispanic.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people move there, they tend to stay there (86% stayed as of last census) and only 4% moved from in-state.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general education of the area trends above 50% of the population that has a 4-year degree or higher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Durham, NC is considered apart of the Research Triangle Region, which is an area that is known for searching in tech and academia. UNC-Chapel Hill, NC Central and Duke are in this region, providing an aspiring law college student 3 choices to take.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F24C6-D033-CFAF-6E5B-3CD95A11C3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UNC-Chapel hill, NC central University &amp; Duke University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DFB48-A32C-7E7D-88DD-1B012659C2E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Duke is ranked #7 in law schools and in general. It is also ranked #6 in lowest acceptance rates. (12.9%) Tuition: 81,829.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UNC—Chapel Hill is ranked #18 in law schools with a 11.2% acceptance rate. (The general education of the Chapel Hill area trends much higher than Durham (76.6%)) Tuition: 31,562 (in state); 54,800 (out of state).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NC Central University is ranked between #175-194 depending on what type of law the student wants to go into. It is considered a HBCU (Historically Black College/University). It has a 39.1% acceptance rating and is generally cheaper than its other two counterparts (19,190 (in state); 41,862 (out of state).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770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BA2B-7B9E-1621-68C9-A6023ABA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The capital city and the largest city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6535F-91DE-91BC-0E0F-AEE1A1D0F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Columbia and Charleston, SC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5226A-0737-A12C-3476-2A63A045BF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Columbia is the capital city of South Carolina with a population of 144,281. The demographics trend towards the majority race being white, with African-American right behind at 40%, 6% Asian and 8% Hispanic.</a:t>
            </a:r>
          </a:p>
          <a:p>
            <a:r>
              <a:rPr lang="en-US" dirty="0"/>
              <a:t>Its central location puts it 90 minutes away from Charleston, SC and other cities. People tend to stay in the city once established however, 12% of the surveyed population have moved there from other counties in state. The average education level in Columbia for 4-year degree or above is 47.7%.</a:t>
            </a:r>
          </a:p>
          <a:p>
            <a:r>
              <a:rPr lang="en-US" dirty="0"/>
              <a:t>Charleston, SC has a population of 159,011 and is the largest city in the state. The area has attracted a lot of tech firms as well as med students. The demographics trend towards the majority race as white with 12% African-American, 2% Asian and 7% Hispanic. The average education level in Charleston for a 4-year degree or above is 60.5%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6E4833-1419-3644-AB12-58FAA9E25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University of south Carolina &amp; Charleston school of law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373D28-E4A5-1462-7CD2-85DD1BB0D84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r>
              <a:rPr lang="en-US" sz="2100" dirty="0"/>
              <a:t>USC is ranked #62 in law colleges with a 29.9% acceptance rate. Tuition: 24,022 (in state); 41,800 (out of state).</a:t>
            </a:r>
          </a:p>
          <a:p>
            <a:r>
              <a:rPr lang="en-US" sz="2100" dirty="0"/>
              <a:t>Charleston School of Law is ranked #171 in law colleges with an acceptance rate of 50.2%. Its tuition is 48,600.</a:t>
            </a:r>
          </a:p>
        </p:txBody>
      </p:sp>
    </p:spTree>
    <p:extLst>
      <p:ext uri="{BB962C8B-B14F-4D97-AF65-F5344CB8AC3E}">
        <p14:creationId xmlns:p14="http://schemas.microsoft.com/office/powerpoint/2010/main" val="1695847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9C9B5-40A8-6DF6-2E57-E301B9B0D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for something a little different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CDC0D-BFDB-9675-0356-D6F3D8E76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Wake Forest University is ranked at #30 in law colleges and has a 24.6% acceptance rating.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Tuition: 59,144.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in Winston-Salem, North Carolina that has a population of 255,782. The demographics trend majority white with 31% African-American, 2% Asian, and 18% Hispanic.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education level is at 43.9% for 4-year degrees or higher and people tend to stay there once they settle down. They get a little bit of migration, about 5% from other sources.</a:t>
            </a:r>
          </a:p>
        </p:txBody>
      </p:sp>
    </p:spTree>
    <p:extLst>
      <p:ext uri="{BB962C8B-B14F-4D97-AF65-F5344CB8AC3E}">
        <p14:creationId xmlns:p14="http://schemas.microsoft.com/office/powerpoint/2010/main" val="1941637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2BFD1-B50E-FC0B-A7F3-EDA97B150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and quiet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62422-E520-F6F7-8DE6-8A4B84216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Elon university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F42F5-4ACE-E4AF-ECC3-5CAA20AEC5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Elon University is ranked #144 in law colleges and has an acceptance rate of 53.2%.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tuition is 54,387 a year.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Elon University is in the aptly named town of Elon, North Carolina, which has a population of 11,032, making this area very rural. It is in Alamance County, NC, a county with a population of 183,040 and is adjacent to Greensboro.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Much like the other areas, the demographics trend mostly white with 10% African-American, 4% Asian, and 3% Hispanic. Once people move into that area, they tend to stay, though it has been noted that 15% of new population has moved there from out of state. The education level trends at 51.5%.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221386-14C5-3656-EBE3-2C8F5D1930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Campbell university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916E50-C49C-A5F7-AEF7-41AB8A0FCD9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Campbell University is ranked #131 in law colleges and has an acceptance rate of 50.7% Tuition: 52,770.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Campbell University is in a town called Buies Creek, North Carolina which has a very small population of 3,746. This is a very rural area with demographics trending towards majority white, 10% African-American, 2% Asian, 6% Hispanic.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Recent trends has shown that people are moving into the area, a whopping 21% from different counties in the state. The education level trends higher than the other areas at 64.5% as well.</a:t>
            </a:r>
          </a:p>
        </p:txBody>
      </p:sp>
    </p:spTree>
    <p:extLst>
      <p:ext uri="{BB962C8B-B14F-4D97-AF65-F5344CB8AC3E}">
        <p14:creationId xmlns:p14="http://schemas.microsoft.com/office/powerpoint/2010/main" val="3248075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9F799-28FB-1A3F-340B-FBE09AB72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780" y="1978243"/>
            <a:ext cx="10058400" cy="1450757"/>
          </a:xfrm>
        </p:spPr>
        <p:txBody>
          <a:bodyPr/>
          <a:lstStyle/>
          <a:p>
            <a:r>
              <a:rPr lang="en-US" dirty="0"/>
              <a:t>What can we glean from this?</a:t>
            </a:r>
          </a:p>
        </p:txBody>
      </p:sp>
    </p:spTree>
    <p:extLst>
      <p:ext uri="{BB962C8B-B14F-4D97-AF65-F5344CB8AC3E}">
        <p14:creationId xmlns:p14="http://schemas.microsoft.com/office/powerpoint/2010/main" val="1511240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24148-8CBE-4B5F-9E33-130D2FBFE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64BC9-8625-F58F-7312-03F724D10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1. Charleston’s weaker acceptance rate can be contributed to tuition cost or the conditions of the current area. Much like Columbia, the cost of living has increased, and the city has gone/going through a period of growth. If you live in South Carolina, it appears that U of SC is cheaper tuition wise.</a:t>
            </a:r>
          </a:p>
          <a:p>
            <a:r>
              <a:rPr lang="en-US" dirty="0"/>
              <a:t>2. Duke’s loss can be contributed to its well-known low acceptance rate (12.9%), but it is also within the Research Triangle and thus students have other options within the same area.</a:t>
            </a:r>
          </a:p>
          <a:p>
            <a:r>
              <a:rPr lang="en-US" dirty="0"/>
              <a:t>3. USC potentially has the same problem as Charleston as the area is going through a period of exponential growth.</a:t>
            </a:r>
          </a:p>
          <a:p>
            <a:r>
              <a:rPr lang="en-US" dirty="0"/>
              <a:t>4. Campbell’s increase can be contributed to the increased migration to the town/county within the past couple of years. The tuition is one of the cheaper options for out of state students.</a:t>
            </a:r>
          </a:p>
          <a:p>
            <a:r>
              <a:rPr lang="en-US" dirty="0"/>
              <a:t>5. NC Central is a HBCU and so naturally, there will be a higher concentration of POC students there, which I cover in the next half of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795276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C56F8-FCCC-144B-CAB3-3B9D9BE6B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2024 Demographics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C8FFBBE-112E-1214-0C40-C6063C3EE6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7463843"/>
              </p:ext>
            </p:extLst>
          </p:nvPr>
        </p:nvGraphicFramePr>
        <p:xfrm>
          <a:off x="1097280" y="2110580"/>
          <a:ext cx="7572375" cy="38433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D4BD20C-954C-78F4-58C3-CF066F92B556}"/>
              </a:ext>
            </a:extLst>
          </p:cNvPr>
          <p:cNvSpPr txBox="1"/>
          <p:nvPr/>
        </p:nvSpPr>
        <p:spPr>
          <a:xfrm>
            <a:off x="8336280" y="1822448"/>
            <a:ext cx="296037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Campbell University:</a:t>
            </a:r>
            <a:r>
              <a:rPr lang="en-US" sz="1400" dirty="0"/>
              <a:t> 191; Men: 71, Women: 116; Prefer not to report: 4.</a:t>
            </a:r>
          </a:p>
          <a:p>
            <a:r>
              <a:rPr lang="en-US" sz="1400" u="sng" dirty="0"/>
              <a:t>Charleston School of Law:</a:t>
            </a:r>
            <a:r>
              <a:rPr lang="en-US" sz="1400" dirty="0"/>
              <a:t> 272; Men: 79, Women: 189; Prefer not to report: 4.</a:t>
            </a:r>
          </a:p>
          <a:p>
            <a:r>
              <a:rPr lang="en-US" sz="1400" u="sng" dirty="0"/>
              <a:t>Duke University:</a:t>
            </a:r>
            <a:r>
              <a:rPr lang="en-US" sz="1400" dirty="0"/>
              <a:t> 250; Men: 114, Women: 136.</a:t>
            </a:r>
          </a:p>
          <a:p>
            <a:r>
              <a:rPr lang="en-US" sz="1400" u="sng" dirty="0"/>
              <a:t>Elon University:</a:t>
            </a:r>
            <a:r>
              <a:rPr lang="en-US" sz="1400" dirty="0"/>
              <a:t> 206; Men: 78, Women: 124; Another Gender ID: 3, Prefer not to report: 1.</a:t>
            </a:r>
          </a:p>
          <a:p>
            <a:r>
              <a:rPr lang="en-US" sz="1400" u="sng" dirty="0"/>
              <a:t>NC Central University:</a:t>
            </a:r>
            <a:r>
              <a:rPr lang="en-US" sz="1400" dirty="0"/>
              <a:t> 133; Men: 45, Women: 84, Another Gender ID: 4.</a:t>
            </a:r>
          </a:p>
          <a:p>
            <a:r>
              <a:rPr lang="en-US" sz="1400" u="sng" dirty="0"/>
              <a:t>UNC—Chapel Hill:</a:t>
            </a:r>
            <a:r>
              <a:rPr lang="en-US" sz="1400" dirty="0"/>
              <a:t> 181; Men: 84, Women: 92, Another Gender ID: 3, Prefer Not to Report: 2.</a:t>
            </a:r>
          </a:p>
          <a:p>
            <a:r>
              <a:rPr lang="en-US" sz="1400" u="sng" dirty="0"/>
              <a:t>U of SC:</a:t>
            </a:r>
            <a:r>
              <a:rPr lang="en-US" sz="1400" dirty="0"/>
              <a:t> 226; Men: 117, Women: 109.</a:t>
            </a:r>
          </a:p>
          <a:p>
            <a:r>
              <a:rPr lang="en-US" sz="1400" u="sng" dirty="0"/>
              <a:t>Wake Forest University:</a:t>
            </a:r>
            <a:r>
              <a:rPr lang="en-US" sz="1400" dirty="0"/>
              <a:t> 192; Men: 101, Women: 91.</a:t>
            </a:r>
          </a:p>
        </p:txBody>
      </p:sp>
    </p:spTree>
    <p:extLst>
      <p:ext uri="{BB962C8B-B14F-4D97-AF65-F5344CB8AC3E}">
        <p14:creationId xmlns:p14="http://schemas.microsoft.com/office/powerpoint/2010/main" val="2171371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DB4A-1A7D-28C4-2FAE-3D4EF8D0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2024 Demographics cont.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28F51BE-4B22-F31F-34A4-49476F5D4D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4857848"/>
              </p:ext>
            </p:extLst>
          </p:nvPr>
        </p:nvGraphicFramePr>
        <p:xfrm>
          <a:off x="1008062" y="2545556"/>
          <a:ext cx="6315075" cy="2871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8444590-00B8-94B3-A52F-A60B5FD126BB}"/>
              </a:ext>
            </a:extLst>
          </p:cNvPr>
          <p:cNvSpPr txBox="1"/>
          <p:nvPr/>
        </p:nvSpPr>
        <p:spPr>
          <a:xfrm>
            <a:off x="7569200" y="1946274"/>
            <a:ext cx="34988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Campbell University:</a:t>
            </a:r>
            <a:r>
              <a:rPr lang="en-US" sz="1400" dirty="0"/>
              <a:t> POC Men: 17, POC Women: 29, Total: 46 out of 191.</a:t>
            </a:r>
          </a:p>
          <a:p>
            <a:r>
              <a:rPr lang="en-US" sz="1400" u="sng" dirty="0"/>
              <a:t>Charleston School of Law:</a:t>
            </a:r>
            <a:r>
              <a:rPr lang="en-US" sz="1400" dirty="0"/>
              <a:t> POC Men: 9, POC Women: 30, Total: 39 out of 272.</a:t>
            </a:r>
          </a:p>
          <a:p>
            <a:r>
              <a:rPr lang="en-US" sz="1400" u="sng" dirty="0"/>
              <a:t>Duke University:</a:t>
            </a:r>
            <a:r>
              <a:rPr lang="en-US" sz="1400" dirty="0"/>
              <a:t> POC Men: 39, POC Women: 60, Total: 99 out of 250.</a:t>
            </a:r>
            <a:endParaRPr lang="en-US" sz="1400" u="sng" dirty="0"/>
          </a:p>
          <a:p>
            <a:r>
              <a:rPr lang="en-US" sz="1400" u="sng" dirty="0"/>
              <a:t>Elon University:</a:t>
            </a:r>
            <a:r>
              <a:rPr lang="en-US" sz="1400" dirty="0"/>
              <a:t> POC Men: 18, POC Women 37, Total: 55 out of 206.</a:t>
            </a:r>
          </a:p>
          <a:p>
            <a:r>
              <a:rPr lang="en-US" sz="1400" u="sng" dirty="0"/>
              <a:t>NC Central University:</a:t>
            </a:r>
            <a:r>
              <a:rPr lang="en-US" sz="1400" dirty="0"/>
              <a:t> POC Men: 27, POC Women: 68, POC Another Gender ID: 1; Total: 96 out of 133.</a:t>
            </a:r>
          </a:p>
          <a:p>
            <a:r>
              <a:rPr lang="en-US" sz="1400" u="sng" dirty="0"/>
              <a:t>UNC—Chapel Hill:</a:t>
            </a:r>
            <a:r>
              <a:rPr lang="en-US" sz="1400" dirty="0"/>
              <a:t> POC Men: 14, POC Women: 28, POC Another Gender ID: 1; Total: 43 out of 181.</a:t>
            </a:r>
          </a:p>
          <a:p>
            <a:r>
              <a:rPr lang="en-US" sz="1400" u="sng" dirty="0"/>
              <a:t>U of SC:</a:t>
            </a:r>
            <a:r>
              <a:rPr lang="en-US" sz="1400" dirty="0"/>
              <a:t> POC Men: 20, POC Women: 18, Total: 38 out of 226.</a:t>
            </a:r>
          </a:p>
          <a:p>
            <a:r>
              <a:rPr lang="en-US" sz="1400" u="sng" dirty="0"/>
              <a:t>Wake Forest University:</a:t>
            </a:r>
            <a:r>
              <a:rPr lang="en-US" sz="1400" dirty="0"/>
              <a:t> POC Men: 15, POC Women: 11, Total: 26 out 192.</a:t>
            </a:r>
            <a:endParaRPr lang="en-US" sz="1400" u="sng" dirty="0"/>
          </a:p>
        </p:txBody>
      </p:sp>
    </p:spTree>
    <p:extLst>
      <p:ext uri="{BB962C8B-B14F-4D97-AF65-F5344CB8AC3E}">
        <p14:creationId xmlns:p14="http://schemas.microsoft.com/office/powerpoint/2010/main" val="1803380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F6522-715D-EF6F-5867-50381FF25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2025 Demographics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92B328B-3FBB-5D56-5963-411E5B274E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9249460"/>
              </p:ext>
            </p:extLst>
          </p:nvPr>
        </p:nvGraphicFramePr>
        <p:xfrm>
          <a:off x="1097280" y="1949630"/>
          <a:ext cx="9734551" cy="4262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01926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51FB9-7345-3860-F0C5-73C6D936B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A7A27-F162-B2E4-296D-65140B2F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2025 Demographics Cont.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BA7E491-7F5D-22CF-CF57-6A1DCDA963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3564565"/>
              </p:ext>
            </p:extLst>
          </p:nvPr>
        </p:nvGraphicFramePr>
        <p:xfrm>
          <a:off x="2448844" y="1908700"/>
          <a:ext cx="7167564" cy="4452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41395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E3597-8F8D-ABD0-BBAA-994D67031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CD36C-FDDC-8EF4-2879-3F59BFBCE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9B9E6-9617-1977-17EE-F6100F592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Women dominated the class sizes by almost double (depending on the institution).</a:t>
            </a:r>
          </a:p>
          <a:p>
            <a:r>
              <a:rPr lang="en-US" dirty="0"/>
              <a:t>2. NC Central University is a HBCU, so their first-year law student class was compromised of almost all POC and the majority were women. The increase can be contributed to external factors such as political climate or local climate.</a:t>
            </a:r>
          </a:p>
          <a:p>
            <a:r>
              <a:rPr lang="en-US" dirty="0"/>
              <a:t>3. Overall, 4 universities had a huge percentage difference between 2024/2025: Elon, NC Central, UNC—Chapel Hill and Wake Forest.</a:t>
            </a:r>
          </a:p>
          <a:p>
            <a:r>
              <a:rPr lang="en-US" dirty="0"/>
              <a:t>4. For example, Elon University had the same number of men that were accepted, but the ratio of POC to non-POC grew wider (plus more women got accepted).</a:t>
            </a:r>
          </a:p>
        </p:txBody>
      </p:sp>
    </p:spTree>
    <p:extLst>
      <p:ext uri="{BB962C8B-B14F-4D97-AF65-F5344CB8AC3E}">
        <p14:creationId xmlns:p14="http://schemas.microsoft.com/office/powerpoint/2010/main" val="9706422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1934</TotalTime>
  <Words>1813</Words>
  <Application>Microsoft Office PowerPoint</Application>
  <PresentationFormat>Widescreen</PresentationFormat>
  <Paragraphs>86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Bookman Old Style</vt:lpstr>
      <vt:lpstr>Calibri</vt:lpstr>
      <vt:lpstr>Franklin Gothic Book</vt:lpstr>
      <vt:lpstr>Custom</vt:lpstr>
      <vt:lpstr>An Analysis of 2024-2025 America Bar Association Student Demographics</vt:lpstr>
      <vt:lpstr>Notes </vt:lpstr>
      <vt:lpstr>2024vs2025 Class Totals</vt:lpstr>
      <vt:lpstr>Let’s look at the areas around the universities.</vt:lpstr>
      <vt:lpstr>The Research Triangle Region</vt:lpstr>
      <vt:lpstr>The capital city and the largest city</vt:lpstr>
      <vt:lpstr>Now for something a little different</vt:lpstr>
      <vt:lpstr>Small and quiet</vt:lpstr>
      <vt:lpstr>What can we glean from this?</vt:lpstr>
      <vt:lpstr>Observations:</vt:lpstr>
      <vt:lpstr>2024 Demographics</vt:lpstr>
      <vt:lpstr>2024 Demographics cont.</vt:lpstr>
      <vt:lpstr>2025 Demographics</vt:lpstr>
      <vt:lpstr>2025 Demographics Cont.</vt:lpstr>
      <vt:lpstr>Observations: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Saccharine Dreamer</dc:creator>
  <cp:lastModifiedBy>Saccharine Dreamer</cp:lastModifiedBy>
  <cp:revision>3</cp:revision>
  <dcterms:created xsi:type="dcterms:W3CDTF">2026-08-16T18:16:02Z</dcterms:created>
  <dcterms:modified xsi:type="dcterms:W3CDTF">2026-08-18T02:30:25Z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